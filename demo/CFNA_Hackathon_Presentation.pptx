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292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CFNA: a platform that helps cybercrime investigators see the hidden network behind fraud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 investigation data arrives from many sources that do not talk to each other. Connections that matter are invisible in flat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picked a problem where graph analytics and AI give an immediate, explainable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Emphasise that output is explainable and the human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stack: React frontend, FastAPI backend, Pandas for processing, Neo4j and NetworkX for graph work, LLM assistant grounded in evidence, ReportLab for PDFs, Docker for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signal families that investigators care about. Each is detected with graph and pattern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flag shows its evidence. Network roles are indicators to guide investigators, not accusations.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investigator capabilities plus the grounded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Bob supported planning, generation, implementation, debugging, testing and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single illustrative case from complaint to case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1097280"/>
            <a:ext cx="1280160" cy="141732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7040880" y="1005840"/>
            <a:ext cx="1097280" cy="150876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040880" y="2377440"/>
            <a:ext cx="1463040" cy="13716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2514600"/>
            <a:ext cx="914400" cy="141732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035040" y="2514600"/>
            <a:ext cx="1005840" cy="150876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394960" y="2514600"/>
            <a:ext cx="1645920" cy="22860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914400"/>
            <a:ext cx="91440" cy="160020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766560" y="2514600"/>
            <a:ext cx="274320" cy="169164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394960" y="1097280"/>
            <a:ext cx="365760" cy="164592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1005840"/>
            <a:ext cx="365760" cy="137160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766560" y="3931920"/>
            <a:ext cx="1188720" cy="27432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32704" y="969264"/>
            <a:ext cx="256032" cy="25603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877824"/>
            <a:ext cx="256032" cy="25603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249424"/>
            <a:ext cx="256032" cy="25603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27264" y="3803904"/>
            <a:ext cx="256032" cy="25603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07024" y="3895344"/>
            <a:ext cx="256032" cy="25603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66944" y="2615184"/>
            <a:ext cx="256032" cy="25603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21424" y="786384"/>
            <a:ext cx="256032" cy="25603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38544" y="4078224"/>
            <a:ext cx="256032" cy="25603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148840"/>
            <a:ext cx="731520" cy="731520"/>
          </a:xfrm>
          <a:prstGeom prst="ellipse">
            <a:avLst/>
          </a:prstGeom>
          <a:solidFill>
            <a:srgbClr val="F5A524"/>
          </a:solidFill>
          <a:ln w="38100">
            <a:solidFill>
              <a:srgbClr val="0B1B2B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3172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  ·  BUILT WITH IBM BOB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1325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Fraud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Analyzer</a:t>
            </a:r>
            <a:endParaRPr lang="en-US" sz="3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971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investigation support that turns fragmented fraud data into an evidence-backed, FIR-ready case brief.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2039816" y="4025256"/>
            <a:ext cx="1870300" cy="82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</a:rPr>
              <a:t>Aishwarya Walimbe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</a:rPr>
              <a:t>Tanushree </a:t>
            </a:r>
            <a:r>
              <a:rPr lang="en-US" sz="1200" b="1" dirty="0" err="1">
                <a:solidFill>
                  <a:srgbClr val="F5A524"/>
                </a:solidFill>
                <a:latin typeface="Cambria" pitchFamily="34" charset="0"/>
                <a:ea typeface="Cambria" pitchFamily="34" charset="-122"/>
              </a:rPr>
              <a:t>Kadgi</a:t>
            </a:r>
            <a:endParaRPr lang="en-US" sz="1200" b="1" dirty="0">
              <a:solidFill>
                <a:srgbClr val="F5A524"/>
              </a:solidFill>
              <a:latin typeface="Cambria" pitchFamily="34" charset="0"/>
              <a:ea typeface="Cambria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F5A524"/>
                </a:solidFill>
                <a:latin typeface="Cambria" pitchFamily="34" charset="0"/>
                <a:ea typeface="Cambria" pitchFamily="34" charset="-122"/>
              </a:rPr>
              <a:t>Naincy</a:t>
            </a:r>
            <a:endParaRPr lang="en-US" sz="1200" b="1" dirty="0">
              <a:solidFill>
                <a:srgbClr val="F5A524"/>
              </a:solidFill>
              <a:latin typeface="Cambria" pitchFamily="34" charset="0"/>
              <a:ea typeface="Cambria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</a:rPr>
              <a:t>Vidhita </a:t>
            </a:r>
            <a:r>
              <a:rPr lang="en-US" sz="1200" b="1" dirty="0" err="1">
                <a:solidFill>
                  <a:srgbClr val="F5A524"/>
                </a:solidFill>
                <a:latin typeface="Cambria" pitchFamily="34" charset="0"/>
                <a:ea typeface="Cambria" pitchFamily="34" charset="-122"/>
              </a:rPr>
              <a:t>Arolkar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2989E0-D1F3-6C3D-91DA-A9013F3CD7B1}"/>
              </a:ext>
            </a:extLst>
          </p:cNvPr>
          <p:cNvSpPr txBox="1"/>
          <p:nvPr/>
        </p:nvSpPr>
        <p:spPr>
          <a:xfrm>
            <a:off x="445594" y="3961860"/>
            <a:ext cx="1594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</a:rPr>
              <a:t>Team </a:t>
            </a:r>
            <a:r>
              <a:rPr lang="en-US" sz="1400" b="1" dirty="0" err="1">
                <a:solidFill>
                  <a:srgbClr val="F5A524"/>
                </a:solidFill>
                <a:latin typeface="Cambria" pitchFamily="34" charset="0"/>
                <a:ea typeface="Cambria" pitchFamily="34" charset="-122"/>
              </a:rPr>
              <a:t>Memebers</a:t>
            </a:r>
            <a:r>
              <a:rPr lang="en-US" sz="1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</a:rPr>
              <a:t>:</a:t>
            </a:r>
            <a:endParaRPr lang="en-IN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evidence lives in silos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53619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55064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463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606040" y="13716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0" y="153619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72" y="165506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19272" y="1463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logs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3317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4360" y="249631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61518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70432" y="24231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SIM details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2606040" y="23317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743200" y="249631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61518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319272" y="24231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32918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94360" y="34564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57530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70432" y="3383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bank accounts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2606040" y="32918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2743200" y="34564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2072" y="3575304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319272" y="3383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/ victim data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disconnected sources. One investigator.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937760" y="1371600"/>
            <a:ext cx="3749040" cy="2880360"/>
          </a:xfrm>
          <a:prstGeom prst="roundRect">
            <a:avLst>
              <a:gd name="adj" fmla="val 3810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5212080" y="15727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30" name="Text 22"/>
          <p:cNvSpPr txBox="1"/>
          <p:nvPr/>
        </p:nvSpPr>
        <p:spPr>
          <a:xfrm>
            <a:off x="566928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cross-referencing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5669280" y="18470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stitch spreadsheets, logs and statements by hand.</a:t>
            </a:r>
            <a:endParaRPr lang="en-US" sz="1150" dirty="0"/>
          </a:p>
        </p:txBody>
      </p:sp>
      <p:sp>
        <p:nvSpPr>
          <p:cNvPr id="32" name="Text 24"/>
          <p:cNvSpPr txBox="1"/>
          <p:nvPr/>
        </p:nvSpPr>
        <p:spPr>
          <a:xfrm>
            <a:off x="5212080" y="24414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33" name="Text 25"/>
          <p:cNvSpPr txBox="1"/>
          <p:nvPr/>
        </p:nvSpPr>
        <p:spPr>
          <a:xfrm>
            <a:off x="5669280" y="2441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connections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669280" y="2715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devices, SIMs and mule chains go unnoticed in flat tables.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5212080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6" name="Text 28"/>
          <p:cNvSpPr txBox="1"/>
          <p:nvPr/>
        </p:nvSpPr>
        <p:spPr>
          <a:xfrm>
            <a:off x="5669280" y="3310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hard-to-defend notes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5669280" y="35844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write-ups take time and rarely trace back to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chose this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623974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growing harm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7860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hits everyday victims, and stolen money often moves on through several accounts quickly.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4813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366" y="162397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graphs + AI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57860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relational. Accounts, devices and SIMs form networks that graph analytics expose far better than tables.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4813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286" y="1623974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57860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effort, faster discovery of links, and explainable output that can stand up to review.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fit: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 batch of mock data, detect coordination signals, and deliver a time-stamped brief with recommended next steps.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CFNA works, end to 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2103120"/>
            <a:ext cx="69494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" y="1737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9992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transactions, call logs, SIM, device, UPI/bank and party data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07692" y="1737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887" y="192755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56232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856232" y="29992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and Pandas pull out entities and relationships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06724" y="1737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6919" y="192755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255264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255264" y="29992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become an interactive Neo4j fraud graph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905756" y="1737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951" y="192755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654296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654296" y="29992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flags mule chains, fan-in/out, shared SIMs and devices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304788" y="1737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983" y="1927555"/>
            <a:ext cx="351130" cy="35113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053328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053328" y="29992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links back to its source evidence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7703820" y="1737360"/>
            <a:ext cx="731520" cy="7315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4015" y="1927555"/>
            <a:ext cx="351130" cy="35113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45236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7452360" y="29992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FIR-ready case brief with recommended next steps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investigator stays in the loop at every step.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Implementation: the 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377440" cy="475488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99032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28016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834640" y="1280160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17520" y="128016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847088"/>
            <a:ext cx="2377440" cy="475488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9659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184708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834640" y="1847088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017520" y="184708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FastAPI, secured with JWT and RBAC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414016"/>
            <a:ext cx="2377440" cy="475488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5328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5840" y="24140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834640" y="2414016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017520" y="2414016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for ingestion and entity extraction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80944"/>
            <a:ext cx="2377440" cy="475488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09981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5840" y="298094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&amp; analytics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2834640" y="2980944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017520" y="2980944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database + NetworkX network analytics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547872"/>
            <a:ext cx="2377440" cy="475488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366674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05840" y="35478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2834640" y="3547872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3017520" y="354787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LLM-based, evidence-grounded: answers stay tied to case data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7200" y="4114800"/>
            <a:ext cx="2377440" cy="475488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233672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05840" y="41148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delivery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2834640" y="4114800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3017520" y="411480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PDFs  ·  Docker + Compose  ·  Pytest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detection engine looks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630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819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Money-mule chains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hopping through a series of intermediary accounts.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47288" y="14630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5819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fund movement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followed by near-immediate debits.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36208" y="14630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8191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 / fan-out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36208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accounts feeding one, or one dispersing to many.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8368" y="31546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7355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devices / SIMs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58368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 or SIM tied to multiple accounts or identities.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29718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47288" y="31546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27355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SIM-swap indicators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 change followed by sudden account activity.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29718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9525">
            <a:solidFill>
              <a:srgbClr val="DCE4E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36208" y="3154680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7355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hubs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36208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High-connectivity nodes that tie clusters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Explainable, never accusatory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THIS FLAGGED?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Fan-in pattern detected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33472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inbound UPI transfers to one account in a short window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transaction IDs and timestamps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device ID seen across the sending accounts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426464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545336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60720" y="1389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reported loss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37760" y="2176272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20640" y="2322576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2441448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76072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Intermediary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760720" y="2569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funds along the chain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937760" y="3072384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20640" y="321868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333756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76072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hub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760720" y="34655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many accounts or devices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investigators can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4231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4813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1623974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network graph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entities and relationships; drill into any node.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560320" y="1280160"/>
            <a:ext cx="1920240" cy="24231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61488" y="14813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134" y="162397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61488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flow tracing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2761488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money hop by hop from victim to destination.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63440" y="1280160"/>
            <a:ext cx="1920240" cy="24231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64608" y="14813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254" y="1623974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64608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timeline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4864608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calls, SIM events and transfers in chronological order.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766560" y="1280160"/>
            <a:ext cx="1920240" cy="24231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67728" y="1481328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374" y="1623974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67728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FIR-ready case brief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6967728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PDF with findings and next steps.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404164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4160520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39319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AI assistant: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language; answers stay tied to case data.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730325" y="150327"/>
            <a:ext cx="70268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as our AI Chat Assistant</a:t>
            </a:r>
            <a:endParaRPr lang="en-US" sz="30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7597DE04-03EB-4452-D495-DE6E4D645E4C}"/>
              </a:ext>
            </a:extLst>
          </p:cNvPr>
          <p:cNvSpPr/>
          <p:nvPr/>
        </p:nvSpPr>
        <p:spPr>
          <a:xfrm>
            <a:off x="433173" y="1101368"/>
            <a:ext cx="174662" cy="1542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60FB37EE-44F2-CE1F-70D0-743318BE238A}"/>
              </a:ext>
            </a:extLst>
          </p:cNvPr>
          <p:cNvSpPr txBox="1"/>
          <p:nvPr/>
        </p:nvSpPr>
        <p:spPr>
          <a:xfrm>
            <a:off x="745587" y="933935"/>
            <a:ext cx="2968962" cy="479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the user ask questions to gain clarity</a:t>
            </a:r>
            <a:endParaRPr lang="en-US" sz="13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FFE3484-2CC2-32AD-8C84-E4F350752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774" y="1547446"/>
            <a:ext cx="6041596" cy="3362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use case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scenario: a cybercrime cell investigating a UPI fraud 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7276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arrive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victims report UPI fraud involving different accounts.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0552" y="141732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67712" y="157276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67712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loads transactions, call logs, SIM and device records.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03904" y="141732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41064" y="157276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41064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41064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revealed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41064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links accounts through a shared device and a fan-in hub.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77256" y="141732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14416" y="157276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14416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14416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explained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14416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shows rapid fund movement and SIM-swap indicators, each with evidence.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50608" y="141732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C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87768" y="1572768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8776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generated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87768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FIR-ready case brief lists findings and next steps for review.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cross-referencing becomes a guided, evidence-linked review. CFNA surfaces the connections; the investigator decides.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connections.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Clearer evidence.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 become one fraud network graph.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5146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is linked to the evidence behind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5146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FIR-ready brief with recommended next steps.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914</Words>
  <Application>Microsoft Office PowerPoint</Application>
  <PresentationFormat>On-screen Show (16:9)</PresentationFormat>
  <Paragraphs>148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Fraud Network Analyzer</dc:title>
  <dc:subject>PptxGenJS Presentation</dc:subject>
  <dc:creator>PptxGenJS</dc:creator>
  <cp:lastModifiedBy>Aishwarya W</cp:lastModifiedBy>
  <cp:revision>2</cp:revision>
  <dcterms:created xsi:type="dcterms:W3CDTF">2026-09-28T07:00:54Z</dcterms:created>
  <dcterms:modified xsi:type="dcterms:W3CDTF">2026-09-28T09:27:41Z</dcterms:modified>
</cp:coreProperties>
</file>